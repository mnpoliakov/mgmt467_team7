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Lst>
  <p:sldSz cy="5143500" cx="9144000"/>
  <p:notesSz cx="6858000" cy="9144000"/>
  <p:embeddedFontLst>
    <p:embeddedFont>
      <p:font typeface="Roboto"/>
      <p:regular r:id="rId14"/>
      <p:bold r:id="rId15"/>
      <p:italic r:id="rId16"/>
      <p:boldItalic r:id="rId17"/>
    </p:embeddedFont>
    <p:embeddedFont>
      <p:font typeface="Roboto Mono"/>
      <p:regular r:id="rId18"/>
      <p:bold r:id="rId19"/>
      <p:italic r:id="rId20"/>
      <p:boldItalic r:id="rId2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RobotoMono-italic.fntdata"/><Relationship Id="rId11" Type="http://schemas.openxmlformats.org/officeDocument/2006/relationships/slide" Target="slides/slide6.xml"/><Relationship Id="rId10" Type="http://schemas.openxmlformats.org/officeDocument/2006/relationships/slide" Target="slides/slide5.xml"/><Relationship Id="rId21" Type="http://schemas.openxmlformats.org/officeDocument/2006/relationships/font" Target="fonts/RobotoMono-boldItalic.fntdata"/><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font" Target="fonts/Roboto-bold.fntdata"/><Relationship Id="rId14" Type="http://schemas.openxmlformats.org/officeDocument/2006/relationships/font" Target="fonts/Roboto-regular.fntdata"/><Relationship Id="rId17" Type="http://schemas.openxmlformats.org/officeDocument/2006/relationships/font" Target="fonts/Roboto-boldItalic.fntdata"/><Relationship Id="rId16" Type="http://schemas.openxmlformats.org/officeDocument/2006/relationships/font" Target="fonts/Roboto-italic.fntdata"/><Relationship Id="rId5" Type="http://schemas.openxmlformats.org/officeDocument/2006/relationships/notesMaster" Target="notesMasters/notesMaster1.xml"/><Relationship Id="rId19" Type="http://schemas.openxmlformats.org/officeDocument/2006/relationships/font" Target="fonts/RobotoMono-bold.fntdata"/><Relationship Id="rId6" Type="http://schemas.openxmlformats.org/officeDocument/2006/relationships/slide" Target="slides/slide1.xml"/><Relationship Id="rId18" Type="http://schemas.openxmlformats.org/officeDocument/2006/relationships/font" Target="fonts/RobotoMono-regular.fntdata"/><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3afc7f980c9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g3afc7f980c9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g3afbb276dbf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 name="Google Shape;57;g3afbb276dbf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g3afc7f980c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 name="Google Shape;69;g3afc7f980c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afbb276db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afbb276db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 name="Shape 83"/>
        <p:cNvGrpSpPr/>
        <p:nvPr/>
      </p:nvGrpSpPr>
      <p:grpSpPr>
        <a:xfrm>
          <a:off x="0" y="0"/>
          <a:ext cx="0" cy="0"/>
          <a:chOff x="0" y="0"/>
          <a:chExt cx="0" cy="0"/>
        </a:xfrm>
      </p:grpSpPr>
      <p:sp>
        <p:nvSpPr>
          <p:cNvPr id="84" name="Google Shape;84;g3afbb276dbf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 name="Google Shape;85;g3afbb276dbf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g3afbb276dbf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 name="Google Shape;91;g3afbb276dbf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3afbb276dbf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7" name="Google Shape;97;g3afbb276dbf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 name="Shape 110"/>
        <p:cNvGrpSpPr/>
        <p:nvPr/>
      </p:nvGrpSpPr>
      <p:grpSpPr>
        <a:xfrm>
          <a:off x="0" y="0"/>
          <a:ext cx="0" cy="0"/>
          <a:chOff x="0" y="0"/>
          <a:chExt cx="0" cy="0"/>
        </a:xfrm>
      </p:grpSpPr>
      <p:sp>
        <p:nvSpPr>
          <p:cNvPr id="111" name="Google Shape;111;g3afc7f980c9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 name="Google Shape;112;g3afc7f980c9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xml"/><Relationship Id="rId3" Type="http://schemas.openxmlformats.org/officeDocument/2006/relationships/image" Target="../media/image5.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 Id="rId3" Type="http://schemas.openxmlformats.org/officeDocument/2006/relationships/image" Target="../media/image9.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8.png"/><Relationship Id="rId4" Type="http://schemas.openxmlformats.org/officeDocument/2006/relationships/image" Target="../media/image1.png"/><Relationship Id="rId5" Type="http://schemas.openxmlformats.org/officeDocument/2006/relationships/image" Target="../media/image7.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 Id="rId3" Type="http://schemas.openxmlformats.org/officeDocument/2006/relationships/image" Target="../media/image11.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pic>
        <p:nvPicPr>
          <p:cNvPr descr="Beautify this slide" id="54" name="Google Shape;54;p13"/>
          <p:cNvPicPr preferRelativeResize="0"/>
          <p:nvPr/>
        </p:nvPicPr>
        <p:blipFill>
          <a:blip r:embed="rId3">
            <a:alphaModFix/>
          </a:blip>
          <a:stretch>
            <a:fillRect/>
          </a:stretch>
        </p:blipFill>
        <p:spPr>
          <a:xfrm>
            <a:off x="0" y="19936"/>
            <a:ext cx="9143545" cy="5103381"/>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 name="Shape 58"/>
        <p:cNvGrpSpPr/>
        <p:nvPr/>
      </p:nvGrpSpPr>
      <p:grpSpPr>
        <a:xfrm>
          <a:off x="0" y="0"/>
          <a:ext cx="0" cy="0"/>
          <a:chOff x="0" y="0"/>
          <a:chExt cx="0" cy="0"/>
        </a:xfrm>
      </p:grpSpPr>
      <p:sp>
        <p:nvSpPr>
          <p:cNvPr id="59" name="Google Shape;59;p14"/>
          <p:cNvSpPr/>
          <p:nvPr/>
        </p:nvSpPr>
        <p:spPr>
          <a:xfrm>
            <a:off x="5034825" y="2073850"/>
            <a:ext cx="3797400" cy="2995800"/>
          </a:xfrm>
          <a:prstGeom prst="roundRect">
            <a:avLst>
              <a:gd fmla="val 16667" name="adj"/>
            </a:avLst>
          </a:prstGeom>
          <a:solidFill>
            <a:srgbClr val="6F8898"/>
          </a:solidFill>
          <a:ln cap="flat" cmpd="sng" w="9525">
            <a:solidFill>
              <a:srgbClr val="6F889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0" name="Google Shape;60;p14"/>
          <p:cNvSpPr/>
          <p:nvPr/>
        </p:nvSpPr>
        <p:spPr>
          <a:xfrm>
            <a:off x="408675" y="2428775"/>
            <a:ext cx="3567300" cy="2147700"/>
          </a:xfrm>
          <a:prstGeom prst="roundRect">
            <a:avLst>
              <a:gd fmla="val 16667" name="adj"/>
            </a:avLst>
          </a:prstGeom>
          <a:solidFill>
            <a:srgbClr val="5DC0FC"/>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1" name="Google Shape;61;p1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About our dataset/api</a:t>
            </a:r>
            <a:endParaRPr/>
          </a:p>
        </p:txBody>
      </p:sp>
      <p:sp>
        <p:nvSpPr>
          <p:cNvPr id="62" name="Google Shape;62;p14"/>
          <p:cNvSpPr txBox="1"/>
          <p:nvPr>
            <p:ph idx="1" type="body"/>
          </p:nvPr>
        </p:nvSpPr>
        <p:spPr>
          <a:xfrm>
            <a:off x="5504075" y="1955700"/>
            <a:ext cx="3117600" cy="3416400"/>
          </a:xfrm>
          <a:prstGeom prst="rect">
            <a:avLst/>
          </a:prstGeom>
        </p:spPr>
        <p:txBody>
          <a:bodyPr anchorCtr="0" anchor="ctr" bIns="91425" lIns="91425" spcFirstLastPara="1" rIns="91425" wrap="square" tIns="91425">
            <a:normAutofit fontScale="92500" lnSpcReduction="10000"/>
          </a:bodyPr>
          <a:lstStyle/>
          <a:p>
            <a:pPr indent="0" lvl="0" marL="0" rtl="0" algn="ctr">
              <a:spcBef>
                <a:spcPts val="1000"/>
              </a:spcBef>
              <a:spcAft>
                <a:spcPts val="0"/>
              </a:spcAft>
              <a:buNone/>
            </a:pPr>
            <a:r>
              <a:t/>
            </a:r>
            <a:endParaRPr>
              <a:solidFill>
                <a:schemeClr val="lt1"/>
              </a:solidFill>
            </a:endParaRPr>
          </a:p>
          <a:p>
            <a:pPr indent="0" lvl="0" marL="0" rtl="0" algn="ctr">
              <a:spcBef>
                <a:spcPts val="1000"/>
              </a:spcBef>
              <a:spcAft>
                <a:spcPts val="0"/>
              </a:spcAft>
              <a:buNone/>
            </a:pPr>
            <a:r>
              <a:rPr lang="en">
                <a:solidFill>
                  <a:schemeClr val="lt1"/>
                </a:solidFill>
              </a:rPr>
              <a:t>Our API is from Weatherstack, which provides real-time weather data, including temperature, humidity, wind speed, and UV index. </a:t>
            </a:r>
            <a:endParaRPr>
              <a:solidFill>
                <a:schemeClr val="lt1"/>
              </a:solidFill>
            </a:endParaRPr>
          </a:p>
          <a:p>
            <a:pPr indent="0" lvl="0" marL="0" rtl="0" algn="ctr">
              <a:spcBef>
                <a:spcPts val="1000"/>
              </a:spcBef>
              <a:spcAft>
                <a:spcPts val="0"/>
              </a:spcAft>
              <a:buNone/>
            </a:pPr>
            <a:r>
              <a:rPr lang="en">
                <a:solidFill>
                  <a:schemeClr val="lt1"/>
                </a:solidFill>
              </a:rPr>
              <a:t>It supports up to 1,000 API calls per month, which gave us some issues</a:t>
            </a:r>
            <a:endParaRPr>
              <a:solidFill>
                <a:schemeClr val="lt1"/>
              </a:solidFill>
            </a:endParaRPr>
          </a:p>
          <a:p>
            <a:pPr indent="0" lvl="0" marL="914400" rtl="0" algn="ctr">
              <a:spcBef>
                <a:spcPts val="1000"/>
              </a:spcBef>
              <a:spcAft>
                <a:spcPts val="1200"/>
              </a:spcAft>
              <a:buNone/>
            </a:pPr>
            <a:r>
              <a:t/>
            </a:r>
            <a:endParaRPr>
              <a:solidFill>
                <a:schemeClr val="lt1"/>
              </a:solidFill>
            </a:endParaRPr>
          </a:p>
        </p:txBody>
      </p:sp>
      <p:sp>
        <p:nvSpPr>
          <p:cNvPr id="63" name="Google Shape;63;p14"/>
          <p:cNvSpPr txBox="1"/>
          <p:nvPr/>
        </p:nvSpPr>
        <p:spPr>
          <a:xfrm>
            <a:off x="336475" y="2475125"/>
            <a:ext cx="3314100" cy="2055000"/>
          </a:xfrm>
          <a:prstGeom prst="rect">
            <a:avLst/>
          </a:prstGeom>
          <a:noFill/>
          <a:ln>
            <a:noFill/>
          </a:ln>
        </p:spPr>
        <p:txBody>
          <a:bodyPr anchorCtr="0" anchor="ctr" bIns="91425" lIns="91425" spcFirstLastPara="1" rIns="91425" wrap="square" tIns="91425">
            <a:noAutofit/>
          </a:bodyPr>
          <a:lstStyle/>
          <a:p>
            <a:pPr indent="0" lvl="0" marL="457200" rtl="0" algn="ctr">
              <a:lnSpc>
                <a:spcPct val="115000"/>
              </a:lnSpc>
              <a:spcBef>
                <a:spcPts val="1000"/>
              </a:spcBef>
              <a:spcAft>
                <a:spcPts val="1200"/>
              </a:spcAft>
              <a:buNone/>
            </a:pPr>
            <a:r>
              <a:rPr lang="en" sz="1800">
                <a:solidFill>
                  <a:schemeClr val="dk1"/>
                </a:solidFill>
              </a:rPr>
              <a:t>Our Kaggle </a:t>
            </a:r>
            <a:r>
              <a:rPr lang="en" sz="1800">
                <a:solidFill>
                  <a:schemeClr val="dk1"/>
                </a:solidFill>
              </a:rPr>
              <a:t>dataset</a:t>
            </a:r>
            <a:r>
              <a:rPr lang="en" sz="1800">
                <a:solidFill>
                  <a:schemeClr val="dk1"/>
                </a:solidFill>
              </a:rPr>
              <a:t> contained global weather data with 41 different features, including country, temperature, </a:t>
            </a:r>
            <a:r>
              <a:rPr lang="en" sz="1800">
                <a:solidFill>
                  <a:schemeClr val="dk1"/>
                </a:solidFill>
              </a:rPr>
              <a:t>humidity, and</a:t>
            </a:r>
            <a:r>
              <a:rPr lang="en" sz="1800">
                <a:solidFill>
                  <a:schemeClr val="dk1"/>
                </a:solidFill>
              </a:rPr>
              <a:t> UV index.  </a:t>
            </a:r>
            <a:endParaRPr sz="1800">
              <a:solidFill>
                <a:schemeClr val="dk1"/>
              </a:solidFill>
            </a:endParaRPr>
          </a:p>
        </p:txBody>
      </p:sp>
      <p:pic>
        <p:nvPicPr>
          <p:cNvPr id="64" name="Google Shape;64;p14"/>
          <p:cNvPicPr preferRelativeResize="0"/>
          <p:nvPr/>
        </p:nvPicPr>
        <p:blipFill>
          <a:blip r:embed="rId3">
            <a:alphaModFix/>
          </a:blip>
          <a:stretch>
            <a:fillRect/>
          </a:stretch>
        </p:blipFill>
        <p:spPr>
          <a:xfrm>
            <a:off x="1338112" y="925000"/>
            <a:ext cx="1785376" cy="1340076"/>
          </a:xfrm>
          <a:prstGeom prst="rect">
            <a:avLst/>
          </a:prstGeom>
          <a:noFill/>
          <a:ln>
            <a:noFill/>
          </a:ln>
        </p:spPr>
      </p:pic>
      <p:pic>
        <p:nvPicPr>
          <p:cNvPr id="65" name="Google Shape;65;p14"/>
          <p:cNvPicPr preferRelativeResize="0"/>
          <p:nvPr/>
        </p:nvPicPr>
        <p:blipFill>
          <a:blip r:embed="rId4">
            <a:alphaModFix/>
          </a:blip>
          <a:stretch>
            <a:fillRect/>
          </a:stretch>
        </p:blipFill>
        <p:spPr>
          <a:xfrm>
            <a:off x="4540400" y="1189250"/>
            <a:ext cx="4561075" cy="811575"/>
          </a:xfrm>
          <a:prstGeom prst="rect">
            <a:avLst/>
          </a:prstGeom>
          <a:noFill/>
          <a:ln>
            <a:noFill/>
          </a:ln>
        </p:spPr>
      </p:pic>
      <p:cxnSp>
        <p:nvCxnSpPr>
          <p:cNvPr id="66" name="Google Shape;66;p14"/>
          <p:cNvCxnSpPr/>
          <p:nvPr/>
        </p:nvCxnSpPr>
        <p:spPr>
          <a:xfrm>
            <a:off x="4396025" y="1400075"/>
            <a:ext cx="18000" cy="3699600"/>
          </a:xfrm>
          <a:prstGeom prst="straightConnector1">
            <a:avLst/>
          </a:prstGeom>
          <a:noFill/>
          <a:ln cap="flat" cmpd="sng" w="9525">
            <a:solidFill>
              <a:schemeClr val="dk2"/>
            </a:solidFill>
            <a:prstDash val="solid"/>
            <a:round/>
            <a:headEnd len="med" w="med" type="none"/>
            <a:tailEnd len="med" w="med" type="none"/>
          </a:ln>
        </p:spPr>
      </p:cxn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 name="Shape 70"/>
        <p:cNvGrpSpPr/>
        <p:nvPr/>
      </p:nvGrpSpPr>
      <p:grpSpPr>
        <a:xfrm>
          <a:off x="0" y="0"/>
          <a:ext cx="0" cy="0"/>
          <a:chOff x="0" y="0"/>
          <a:chExt cx="0" cy="0"/>
        </a:xfrm>
      </p:grpSpPr>
      <p:pic>
        <p:nvPicPr>
          <p:cNvPr descr="Beautify this slide" id="71" name="Google Shape;71;p15"/>
          <p:cNvPicPr preferRelativeResize="0"/>
          <p:nvPr/>
        </p:nvPicPr>
        <p:blipFill>
          <a:blip r:embed="rId3">
            <a:alphaModFix/>
          </a:blip>
          <a:stretch>
            <a:fillRect/>
          </a:stretch>
        </p:blipFill>
        <p:spPr>
          <a:xfrm>
            <a:off x="0" y="19936"/>
            <a:ext cx="9143545" cy="5103381"/>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sp>
        <p:nvSpPr>
          <p:cNvPr id="76" name="Google Shape;76;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Pipeline Architecture </a:t>
            </a:r>
            <a:endParaRPr/>
          </a:p>
        </p:txBody>
      </p:sp>
      <p:pic>
        <p:nvPicPr>
          <p:cNvPr id="77" name="Google Shape;77;p16"/>
          <p:cNvPicPr preferRelativeResize="0"/>
          <p:nvPr/>
        </p:nvPicPr>
        <p:blipFill>
          <a:blip r:embed="rId3">
            <a:alphaModFix/>
          </a:blip>
          <a:stretch>
            <a:fillRect/>
          </a:stretch>
        </p:blipFill>
        <p:spPr>
          <a:xfrm>
            <a:off x="311700" y="1017725"/>
            <a:ext cx="1942750" cy="3820974"/>
          </a:xfrm>
          <a:prstGeom prst="rect">
            <a:avLst/>
          </a:prstGeom>
          <a:noFill/>
          <a:ln>
            <a:noFill/>
          </a:ln>
        </p:spPr>
      </p:pic>
      <p:pic>
        <p:nvPicPr>
          <p:cNvPr id="78" name="Google Shape;78;p16"/>
          <p:cNvPicPr preferRelativeResize="0"/>
          <p:nvPr/>
        </p:nvPicPr>
        <p:blipFill>
          <a:blip r:embed="rId4">
            <a:alphaModFix/>
          </a:blip>
          <a:stretch>
            <a:fillRect/>
          </a:stretch>
        </p:blipFill>
        <p:spPr>
          <a:xfrm>
            <a:off x="4004150" y="1017724"/>
            <a:ext cx="3746051" cy="737650"/>
          </a:xfrm>
          <a:prstGeom prst="rect">
            <a:avLst/>
          </a:prstGeom>
          <a:noFill/>
          <a:ln>
            <a:noFill/>
          </a:ln>
        </p:spPr>
      </p:pic>
      <p:pic>
        <p:nvPicPr>
          <p:cNvPr id="79" name="Google Shape;79;p16"/>
          <p:cNvPicPr preferRelativeResize="0"/>
          <p:nvPr/>
        </p:nvPicPr>
        <p:blipFill>
          <a:blip r:embed="rId5">
            <a:alphaModFix/>
          </a:blip>
          <a:stretch>
            <a:fillRect/>
          </a:stretch>
        </p:blipFill>
        <p:spPr>
          <a:xfrm>
            <a:off x="1850076" y="1982638"/>
            <a:ext cx="3505575" cy="797750"/>
          </a:xfrm>
          <a:prstGeom prst="rect">
            <a:avLst/>
          </a:prstGeom>
          <a:noFill/>
          <a:ln>
            <a:noFill/>
          </a:ln>
        </p:spPr>
      </p:pic>
      <p:pic>
        <p:nvPicPr>
          <p:cNvPr id="80" name="Google Shape;80;p16"/>
          <p:cNvPicPr preferRelativeResize="0"/>
          <p:nvPr/>
        </p:nvPicPr>
        <p:blipFill>
          <a:blip r:embed="rId6">
            <a:alphaModFix/>
          </a:blip>
          <a:stretch>
            <a:fillRect/>
          </a:stretch>
        </p:blipFill>
        <p:spPr>
          <a:xfrm>
            <a:off x="5355662" y="2020325"/>
            <a:ext cx="3611881" cy="722376"/>
          </a:xfrm>
          <a:prstGeom prst="rect">
            <a:avLst/>
          </a:prstGeom>
          <a:noFill/>
          <a:ln>
            <a:noFill/>
          </a:ln>
        </p:spPr>
      </p:pic>
      <p:pic>
        <p:nvPicPr>
          <p:cNvPr id="81" name="Google Shape;81;p16"/>
          <p:cNvPicPr preferRelativeResize="0"/>
          <p:nvPr/>
        </p:nvPicPr>
        <p:blipFill>
          <a:blip r:embed="rId7">
            <a:alphaModFix/>
          </a:blip>
          <a:stretch>
            <a:fillRect/>
          </a:stretch>
        </p:blipFill>
        <p:spPr>
          <a:xfrm>
            <a:off x="1941950" y="3489425"/>
            <a:ext cx="3188976" cy="797750"/>
          </a:xfrm>
          <a:prstGeom prst="rect">
            <a:avLst/>
          </a:prstGeom>
          <a:noFill/>
          <a:ln>
            <a:noFill/>
          </a:ln>
        </p:spPr>
      </p:pic>
      <p:pic>
        <p:nvPicPr>
          <p:cNvPr id="82" name="Google Shape;82;p16"/>
          <p:cNvPicPr preferRelativeResize="0"/>
          <p:nvPr/>
        </p:nvPicPr>
        <p:blipFill>
          <a:blip r:embed="rId8">
            <a:alphaModFix/>
          </a:blip>
          <a:stretch>
            <a:fillRect/>
          </a:stretch>
        </p:blipFill>
        <p:spPr>
          <a:xfrm>
            <a:off x="5447518" y="3325118"/>
            <a:ext cx="3428151" cy="96205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 name="Shape 86"/>
        <p:cNvGrpSpPr/>
        <p:nvPr/>
      </p:nvGrpSpPr>
      <p:grpSpPr>
        <a:xfrm>
          <a:off x="0" y="0"/>
          <a:ext cx="0" cy="0"/>
          <a:chOff x="0" y="0"/>
          <a:chExt cx="0" cy="0"/>
        </a:xfrm>
      </p:grpSpPr>
      <p:sp>
        <p:nvSpPr>
          <p:cNvPr id="87" name="Google Shape;87;p1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Pipeline proof</a:t>
            </a:r>
            <a:endParaRPr/>
          </a:p>
        </p:txBody>
      </p:sp>
      <p:pic>
        <p:nvPicPr>
          <p:cNvPr id="88" name="Google Shape;88;p17"/>
          <p:cNvPicPr preferRelativeResize="0"/>
          <p:nvPr/>
        </p:nvPicPr>
        <p:blipFill>
          <a:blip r:embed="rId3">
            <a:alphaModFix/>
          </a:blip>
          <a:stretch>
            <a:fillRect/>
          </a:stretch>
        </p:blipFill>
        <p:spPr>
          <a:xfrm>
            <a:off x="1162050" y="1607975"/>
            <a:ext cx="6819900" cy="249555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Google Shape;93;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Dashboard </a:t>
            </a:r>
            <a:endParaRPr/>
          </a:p>
        </p:txBody>
      </p:sp>
      <p:pic>
        <p:nvPicPr>
          <p:cNvPr id="94" name="Google Shape;94;p18"/>
          <p:cNvPicPr preferRelativeResize="0"/>
          <p:nvPr/>
        </p:nvPicPr>
        <p:blipFill>
          <a:blip r:embed="rId3">
            <a:alphaModFix/>
          </a:blip>
          <a:stretch>
            <a:fillRect/>
          </a:stretch>
        </p:blipFill>
        <p:spPr>
          <a:xfrm>
            <a:off x="1183163" y="1017725"/>
            <a:ext cx="6777674" cy="414965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19"/>
          <p:cNvSpPr/>
          <p:nvPr/>
        </p:nvSpPr>
        <p:spPr>
          <a:xfrm>
            <a:off x="206175" y="0"/>
            <a:ext cx="8746200" cy="911400"/>
          </a:xfrm>
          <a:prstGeom prst="flowChartAlternateProcess">
            <a:avLst/>
          </a:prstGeom>
          <a:solidFill>
            <a:srgbClr val="9800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0" name="Google Shape;100;p19"/>
          <p:cNvSpPr txBox="1"/>
          <p:nvPr/>
        </p:nvSpPr>
        <p:spPr>
          <a:xfrm>
            <a:off x="491850" y="178950"/>
            <a:ext cx="8160300" cy="553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3400">
                <a:solidFill>
                  <a:schemeClr val="lt1"/>
                </a:solidFill>
                <a:latin typeface="Roboto Mono"/>
                <a:ea typeface="Roboto Mono"/>
                <a:cs typeface="Roboto Mono"/>
                <a:sym typeface="Roboto Mono"/>
              </a:rPr>
              <a:t>Model Development and Results</a:t>
            </a:r>
            <a:endParaRPr b="1" sz="3400">
              <a:solidFill>
                <a:schemeClr val="lt1"/>
              </a:solidFill>
              <a:latin typeface="Roboto Mono"/>
              <a:ea typeface="Roboto Mono"/>
              <a:cs typeface="Roboto Mono"/>
              <a:sym typeface="Roboto Mono"/>
            </a:endParaRPr>
          </a:p>
        </p:txBody>
      </p:sp>
      <p:grpSp>
        <p:nvGrpSpPr>
          <p:cNvPr id="101" name="Google Shape;101;p19"/>
          <p:cNvGrpSpPr/>
          <p:nvPr/>
        </p:nvGrpSpPr>
        <p:grpSpPr>
          <a:xfrm>
            <a:off x="5632317" y="1189775"/>
            <a:ext cx="3305700" cy="3483050"/>
            <a:chOff x="5632317" y="1189775"/>
            <a:chExt cx="3305700" cy="3483050"/>
          </a:xfrm>
        </p:grpSpPr>
        <p:sp>
          <p:nvSpPr>
            <p:cNvPr id="102" name="Google Shape;102;p19"/>
            <p:cNvSpPr/>
            <p:nvPr/>
          </p:nvSpPr>
          <p:spPr>
            <a:xfrm>
              <a:off x="5632317" y="1189775"/>
              <a:ext cx="3305700" cy="669000"/>
            </a:xfrm>
            <a:prstGeom prst="chevron">
              <a:avLst>
                <a:gd fmla="val 50000" name="adj"/>
              </a:avLst>
            </a:prstGeom>
            <a:solidFill>
              <a:srgbClr val="D83729"/>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a:solidFill>
                    <a:srgbClr val="FFFFFF"/>
                  </a:solidFill>
                  <a:latin typeface="Roboto"/>
                  <a:ea typeface="Roboto"/>
                  <a:cs typeface="Roboto"/>
                  <a:sym typeface="Roboto"/>
                </a:rPr>
                <a:t>Training and Testing</a:t>
              </a:r>
              <a:endParaRPr>
                <a:solidFill>
                  <a:srgbClr val="FFFFFF"/>
                </a:solidFill>
                <a:latin typeface="Roboto"/>
                <a:ea typeface="Roboto"/>
                <a:cs typeface="Roboto"/>
                <a:sym typeface="Roboto"/>
              </a:endParaRPr>
            </a:p>
          </p:txBody>
        </p:sp>
        <p:sp>
          <p:nvSpPr>
            <p:cNvPr id="103" name="Google Shape;103;p19"/>
            <p:cNvSpPr txBox="1"/>
            <p:nvPr/>
          </p:nvSpPr>
          <p:spPr>
            <a:xfrm>
              <a:off x="6167063" y="2057125"/>
              <a:ext cx="2236200" cy="2615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200">
                  <a:latin typeface="Roboto"/>
                  <a:ea typeface="Roboto"/>
                  <a:cs typeface="Roboto"/>
                  <a:sym typeface="Roboto"/>
                </a:rPr>
                <a:t>Lorem ipsum dolor sit amet, consectetur adipiscing elit. Duis sit amet odio vel purus bibendum luctus. Morbi iaculis dapibus tristique. In hac habitasse platea dictumst. Mauris convallis quam at. Morbi iaculis dapibus tristique.</a:t>
              </a:r>
              <a:endParaRPr sz="1200">
                <a:latin typeface="Roboto"/>
                <a:ea typeface="Roboto"/>
                <a:cs typeface="Roboto"/>
                <a:sym typeface="Roboto"/>
              </a:endParaRPr>
            </a:p>
          </p:txBody>
        </p:sp>
      </p:grpSp>
      <p:grpSp>
        <p:nvGrpSpPr>
          <p:cNvPr id="104" name="Google Shape;104;p19"/>
          <p:cNvGrpSpPr/>
          <p:nvPr/>
        </p:nvGrpSpPr>
        <p:grpSpPr>
          <a:xfrm>
            <a:off x="0" y="1189989"/>
            <a:ext cx="3546900" cy="3482836"/>
            <a:chOff x="0" y="1189989"/>
            <a:chExt cx="3546900" cy="3482836"/>
          </a:xfrm>
        </p:grpSpPr>
        <p:sp>
          <p:nvSpPr>
            <p:cNvPr id="105" name="Google Shape;105;p19"/>
            <p:cNvSpPr/>
            <p:nvPr/>
          </p:nvSpPr>
          <p:spPr>
            <a:xfrm>
              <a:off x="0" y="1189989"/>
              <a:ext cx="3546900" cy="669000"/>
            </a:xfrm>
            <a:prstGeom prst="homePlate">
              <a:avLst>
                <a:gd fmla="val 50000" name="adj"/>
              </a:avLst>
            </a:prstGeom>
            <a:solidFill>
              <a:srgbClr val="801F17"/>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a:solidFill>
                    <a:srgbClr val="FFFFFF"/>
                  </a:solidFill>
                  <a:latin typeface="Roboto"/>
                  <a:ea typeface="Roboto"/>
                  <a:cs typeface="Roboto"/>
                  <a:sym typeface="Roboto"/>
                </a:rPr>
                <a:t>Combining Datasets</a:t>
              </a:r>
              <a:endParaRPr>
                <a:solidFill>
                  <a:srgbClr val="FFFFFF"/>
                </a:solidFill>
                <a:latin typeface="Roboto"/>
                <a:ea typeface="Roboto"/>
                <a:cs typeface="Roboto"/>
                <a:sym typeface="Roboto"/>
              </a:endParaRPr>
            </a:p>
          </p:txBody>
        </p:sp>
        <p:sp>
          <p:nvSpPr>
            <p:cNvPr id="106" name="Google Shape;106;p19"/>
            <p:cNvSpPr txBox="1"/>
            <p:nvPr/>
          </p:nvSpPr>
          <p:spPr>
            <a:xfrm>
              <a:off x="655361" y="2057125"/>
              <a:ext cx="2236200" cy="2615700"/>
            </a:xfrm>
            <a:prstGeom prst="rect">
              <a:avLst/>
            </a:prstGeom>
            <a:noFill/>
            <a:ln>
              <a:noFill/>
            </a:ln>
          </p:spPr>
          <p:txBody>
            <a:bodyPr anchorCtr="0" anchor="t" bIns="91425" lIns="91425" spcFirstLastPara="1" rIns="91425" wrap="square" tIns="91425">
              <a:noAutofit/>
            </a:bodyPr>
            <a:lstStyle/>
            <a:p>
              <a:pPr indent="-304800" lvl="0" marL="457200" rtl="0" algn="l">
                <a:lnSpc>
                  <a:spcPct val="150000"/>
                </a:lnSpc>
                <a:spcBef>
                  <a:spcPts val="0"/>
                </a:spcBef>
                <a:spcAft>
                  <a:spcPts val="0"/>
                </a:spcAft>
                <a:buSzPts val="1200"/>
                <a:buFont typeface="Roboto"/>
                <a:buChar char="●"/>
              </a:pPr>
              <a:r>
                <a:rPr lang="en" sz="1200">
                  <a:latin typeface="Roboto"/>
                  <a:ea typeface="Roboto"/>
                  <a:cs typeface="Roboto"/>
                  <a:sym typeface="Roboto"/>
                </a:rPr>
                <a:t>As </a:t>
              </a:r>
              <a:r>
                <a:rPr lang="en" sz="1200">
                  <a:latin typeface="Roboto"/>
                  <a:ea typeface="Roboto"/>
                  <a:cs typeface="Roboto"/>
                  <a:sym typeface="Roboto"/>
                </a:rPr>
                <a:t>previously</a:t>
              </a:r>
              <a:r>
                <a:rPr lang="en" sz="1200">
                  <a:latin typeface="Roboto"/>
                  <a:ea typeface="Roboto"/>
                  <a:cs typeface="Roboto"/>
                  <a:sym typeface="Roboto"/>
                </a:rPr>
                <a:t> mentioned, we used 2 sources of data</a:t>
              </a:r>
              <a:endParaRPr sz="1200">
                <a:latin typeface="Roboto"/>
                <a:ea typeface="Roboto"/>
                <a:cs typeface="Roboto"/>
                <a:sym typeface="Roboto"/>
              </a:endParaRPr>
            </a:p>
            <a:p>
              <a:pPr indent="-304800" lvl="0" marL="457200" rtl="0" algn="l">
                <a:lnSpc>
                  <a:spcPct val="150000"/>
                </a:lnSpc>
                <a:spcBef>
                  <a:spcPts val="0"/>
                </a:spcBef>
                <a:spcAft>
                  <a:spcPts val="0"/>
                </a:spcAft>
                <a:buSzPts val="1200"/>
                <a:buFont typeface="Roboto"/>
                <a:buChar char="●"/>
              </a:pPr>
              <a:r>
                <a:rPr lang="en" sz="1200">
                  <a:latin typeface="Roboto"/>
                  <a:ea typeface="Roboto"/>
                  <a:cs typeface="Roboto"/>
                  <a:sym typeface="Roboto"/>
                </a:rPr>
                <a:t>Combined the kaggle data and weathercast data into one dataset</a:t>
              </a:r>
              <a:endParaRPr sz="1200">
                <a:latin typeface="Roboto"/>
                <a:ea typeface="Roboto"/>
                <a:cs typeface="Roboto"/>
                <a:sym typeface="Roboto"/>
              </a:endParaRPr>
            </a:p>
            <a:p>
              <a:pPr indent="-304800" lvl="0" marL="457200" rtl="0" algn="l">
                <a:lnSpc>
                  <a:spcPct val="150000"/>
                </a:lnSpc>
                <a:spcBef>
                  <a:spcPts val="0"/>
                </a:spcBef>
                <a:spcAft>
                  <a:spcPts val="0"/>
                </a:spcAft>
                <a:buSzPts val="1200"/>
                <a:buFont typeface="Roboto"/>
                <a:buChar char="●"/>
              </a:pPr>
              <a:r>
                <a:rPr lang="en" sz="1200">
                  <a:latin typeface="Roboto"/>
                  <a:ea typeface="Roboto"/>
                  <a:cs typeface="Roboto"/>
                  <a:sym typeface="Roboto"/>
                </a:rPr>
                <a:t>Used features from both datasets </a:t>
              </a:r>
              <a:endParaRPr sz="1200">
                <a:latin typeface="Roboto"/>
                <a:ea typeface="Roboto"/>
                <a:cs typeface="Roboto"/>
                <a:sym typeface="Roboto"/>
              </a:endParaRPr>
            </a:p>
          </p:txBody>
        </p:sp>
      </p:grpSp>
      <p:grpSp>
        <p:nvGrpSpPr>
          <p:cNvPr id="107" name="Google Shape;107;p19"/>
          <p:cNvGrpSpPr/>
          <p:nvPr/>
        </p:nvGrpSpPr>
        <p:grpSpPr>
          <a:xfrm>
            <a:off x="2944204" y="1189775"/>
            <a:ext cx="3305700" cy="3483050"/>
            <a:chOff x="2944204" y="1189775"/>
            <a:chExt cx="3305700" cy="3483050"/>
          </a:xfrm>
        </p:grpSpPr>
        <p:sp>
          <p:nvSpPr>
            <p:cNvPr id="108" name="Google Shape;108;p19"/>
            <p:cNvSpPr/>
            <p:nvPr/>
          </p:nvSpPr>
          <p:spPr>
            <a:xfrm>
              <a:off x="2944204" y="1189775"/>
              <a:ext cx="3305700" cy="669000"/>
            </a:xfrm>
            <a:prstGeom prst="chevron">
              <a:avLst>
                <a:gd fmla="val 50000" name="adj"/>
              </a:avLst>
            </a:prstGeom>
            <a:solidFill>
              <a:srgbClr val="B02B2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a:solidFill>
                    <a:srgbClr val="FFFFFF"/>
                  </a:solidFill>
                  <a:latin typeface="Roboto"/>
                  <a:ea typeface="Roboto"/>
                  <a:cs typeface="Roboto"/>
                  <a:sym typeface="Roboto"/>
                </a:rPr>
                <a:t>Model Selection</a:t>
              </a:r>
              <a:endParaRPr>
                <a:solidFill>
                  <a:srgbClr val="FFFFFF"/>
                </a:solidFill>
                <a:latin typeface="Roboto"/>
                <a:ea typeface="Roboto"/>
                <a:cs typeface="Roboto"/>
                <a:sym typeface="Roboto"/>
              </a:endParaRPr>
            </a:p>
          </p:txBody>
        </p:sp>
        <p:sp>
          <p:nvSpPr>
            <p:cNvPr id="109" name="Google Shape;109;p19"/>
            <p:cNvSpPr txBox="1"/>
            <p:nvPr/>
          </p:nvSpPr>
          <p:spPr>
            <a:xfrm>
              <a:off x="3478949" y="2057125"/>
              <a:ext cx="2236200" cy="2615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t/>
              </a:r>
              <a:endParaRPr sz="1200">
                <a:latin typeface="Roboto"/>
                <a:ea typeface="Roboto"/>
                <a:cs typeface="Roboto"/>
                <a:sym typeface="Roboto"/>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 name="Shape 113"/>
        <p:cNvGrpSpPr/>
        <p:nvPr/>
      </p:nvGrpSpPr>
      <p:grpSpPr>
        <a:xfrm>
          <a:off x="0" y="0"/>
          <a:ext cx="0" cy="0"/>
          <a:chOff x="0" y="0"/>
          <a:chExt cx="0" cy="0"/>
        </a:xfrm>
      </p:grpSpPr>
      <p:pic>
        <p:nvPicPr>
          <p:cNvPr descr="Beautify this slide" id="114" name="Google Shape;114;p20"/>
          <p:cNvPicPr preferRelativeResize="0"/>
          <p:nvPr/>
        </p:nvPicPr>
        <p:blipFill>
          <a:blip r:embed="rId3">
            <a:alphaModFix/>
          </a:blip>
          <a:stretch>
            <a:fillRect/>
          </a:stretch>
        </p:blipFill>
        <p:spPr>
          <a:xfrm>
            <a:off x="0" y="19936"/>
            <a:ext cx="9143545" cy="5103381"/>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